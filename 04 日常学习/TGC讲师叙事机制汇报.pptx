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种全新的讲师赋能机制——TGC讲师叙事机制。我们将探讨如何将培训的核心从传统的“教答案”，升级为更具价值的“训练选择”，从而构建我们组织面向未来的核心竞争力——判断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八个部分。首先，我们会分析为何要进行这次变革；接着，明确我们需要具备的战略能力；然后，剖析当前存在的缺口；之后，我们将详细介绍核心解法——叙事机制，包括它的结构、运行系统和应用场景；最后，我们会提出具体的行动方案和最终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第一部分：时代变化。过去，我们的培训核心是传授知识和方法。但在今天，AI可以轻易提供这些。这意味着培训的价值必须升级。我们不再是简单地教“是什么”和“怎么做”，而是要训练员工在复杂情境下做出正确选择的能力，也就是判断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我们面临的核心命题发生了转变：从“知道怎么做”到“知道何时做”。知识和方法我们不缺，缺的是在复杂情境中做出正确选择的判断力。这种判断力，是基于深刻洞察和丰富经验的智慧，也是我们区别于AI的核心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需要怎样的能力来应对挑战呢？我们总结为三点：看见真实、跟上变化、立刻行动。这意味着我们要能洞察本质，能快速适应，并且能果断决策。这三大能力共同构成了我们所说的“判断力”，也是我们培训体系需要着力打造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我们当前的培训面临着“最后一公里”的困境。大家有没有发现，很多培训都是听得懂但用不出，一线员工重复踩坑，公司战略也往往停留在口号上。这说明我们缺少一个有效的载体，来把知识真正转化为能力，把个人经验变成组织财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解法，就是“叙事”。请注意，叙事不是简单地讲故事，而是结构化地复盘一次真实的选择过程。通过叙事，我们可以将知识情境化，激活大脑的学习机制，并有效传递那些只可意会的隐性经验。它的本质，是暴露思考过程，而不是炫耀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叙事有效，我们设计了一个黄金结构，包含五个环节：人、处境、选择、结果和反思。其中，“选择”是灵魂，必须清晰地展示决策过程。这个结构就像一个判断力模拟器，让学习者在故事中安全地练习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这不仅仅是一个方法，更是一个系统。我们建立了一个五步流水线：从案例生产、结构化、评分筛选，到场景使用，最终实现资产沉淀。这是一个正向循环，能够让个体经验源源不断地转化为组织的核心资产。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这个机制的价值体现在具体的应用场景中。无论是带教新人、团队复盘，还是课堂教学，叙事都能让学习变得更生动、更有效。它的本质，就是把单纯的讲授，变成了主动的判断训练。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如何开始呢？我们将在5月启动“先行者·讲师叙事行动”。我们邀请每一位TGC讲师，提交一个真实的个人案例。这个案例不需要复杂，只需要用三句话讲清楚：你看见了什么，做了什么，以及发生了什么。让我们从讲述自己的故事开始，共同构建组织的判断力资产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最终目标是什么？是构建一个“组织判断力资产库”。通过叙事机制，我们将分散的个体经验，转化为结构化的组织资产，最终提升整个组织的决策能力。这实现了两大飞跃：从个体到组织，从一次正确到可复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总结一下，我们正在做的，是构建一个系统，将个体经验转化为组织能力。这不仅是知识的沉淀，更是组织智慧的一次深刻进化。我们正在为未来的挑战，准备最好的决策导航系统。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最后，我想用这句话来结束今天的汇报：我们不是在做一次活动，而是在把培训，从“教答案”，升级为“训练选择”。这是我们对未来的承诺，也是我们正在努力的方向。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12.svg"/><Relationship Id="rId16" Type="http://schemas.openxmlformats.org/officeDocument/2006/relationships/image" Target="../media/image11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tags" Target="../tags/tag14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image" Target="../media/image32.svg"/><Relationship Id="rId16" Type="http://schemas.openxmlformats.org/officeDocument/2006/relationships/image" Target="../media/image31.png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26.xml"/><Relationship Id="rId28" Type="http://schemas.openxmlformats.org/officeDocument/2006/relationships/notesSlide" Target="../notesSlides/notesSlide8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39.xml"/><Relationship Id="rId25" Type="http://schemas.openxmlformats.org/officeDocument/2006/relationships/image" Target="../media/image42.svg"/><Relationship Id="rId24" Type="http://schemas.openxmlformats.org/officeDocument/2006/relationships/image" Target="../media/image41.png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image" Target="../media/image40.svg"/><Relationship Id="rId2" Type="http://schemas.openxmlformats.org/officeDocument/2006/relationships/tags" Target="../tags/tag25.xml"/><Relationship Id="rId19" Type="http://schemas.openxmlformats.org/officeDocument/2006/relationships/image" Target="../media/image39.png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image" Target="../media/image38.svg"/><Relationship Id="rId14" Type="http://schemas.openxmlformats.org/officeDocument/2006/relationships/image" Target="../media/image37.png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image" Target="../media/image36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5.svg"/><Relationship Id="rId13" Type="http://schemas.openxmlformats.org/officeDocument/2006/relationships/image" Target="../media/image54.png"/><Relationship Id="rId12" Type="http://schemas.openxmlformats.org/officeDocument/2006/relationships/image" Target="../media/image53.jpeg"/><Relationship Id="rId11" Type="http://schemas.openxmlformats.org/officeDocument/2006/relationships/image" Target="../media/image52.svg"/><Relationship Id="rId10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61.svg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" Type="http://schemas.openxmlformats.org/officeDocument/2006/relationships/image" Target="../media/image68.png"/><Relationship Id="rId7" Type="http://schemas.openxmlformats.org/officeDocument/2006/relationships/image" Target="../media/image67.svg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71.svg"/><Relationship Id="rId10" Type="http://schemas.openxmlformats.org/officeDocument/2006/relationships/image" Target="../media/image70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从“教答案”到“训练选择”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TGC讲师叙事机制：构建面向未来的组织判断力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汇报人：TGC项目组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76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159000" y="1676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时代变化 (Why)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培训的价值正在被重新定义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0099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30099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战略要求 (What)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我们需要怎样的能力？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343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4343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当前缺口 (Gap)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我们面临的挑战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613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5613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核心解法 (How)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用叙事沉淀判断力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676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0" y="1676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运行机制 (System)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从案例到资产的流水线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0099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30099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使用场景 (Value)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叙事在工作中的应用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4343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4343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行动起点 (Now)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先行者·讲师叙事行动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546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5613400"/>
            <a:ext cx="101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56134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 (Impact)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构建组织的“判断力资产”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时代变化 (Why) —— 培训的价值正在被重新定义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我们正处在一个新旧范式交替的时代。过去，知识和方法是稀缺资源，培训的核心使命是“传递”。而今天，AI已经成为我们身边最强大的知识引擎和方法库。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30093" r="30093"/>
          <a:stretch>
            <a:fillRect/>
          </a:stretch>
        </p:blipFill>
        <p:spPr>
          <a:xfrm>
            <a:off x="952500" y="2476500"/>
            <a:ext cx="1651000" cy="2540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794000" y="2476500"/>
            <a:ext cx="2984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传统培训时代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(Knowledge &amp; Method Era)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核心假设：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知识是力量，方法是关键。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培训模式：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讲师作为“知识的搬运工”。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教学内容：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侧重于传授“是什么”和“怎么做”。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学员角色：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被动的接收者和模仿者。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249" r="1250"/>
          <a:stretch>
            <a:fillRect/>
          </a:stretch>
        </p:blipFill>
        <p:spPr>
          <a:xfrm>
            <a:off x="6413500" y="2476500"/>
            <a:ext cx="1651000" cy="2540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255000" y="2476500"/>
            <a:ext cx="2984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赋能时代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(Judgment Era)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核心挑战：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信息过载，方法易得，但选择艰难。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培训模式：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讲师作为“判断力的教练”。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教学内容：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侧重于训练“为什么”和“何时做”。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学员角色：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主动的思考者和决策者。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778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651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关键洞察：</a:t>
            </a:r>
            <a:r>
              <a:rPr lang="en-US" sz="1400" b="0" i="0" u="none" strike="noStrike">
                <a:solidFill>
                  <a:srgbClr val="F0F5F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当AI可以提供90%的“标准答案”时，那剩下10%的“关键选择”就成了最大的差异。培训的价值，必须从“教知识”升级为“训练在真实情境下做正确选择的能力”。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核心命题：从“知道怎么做”到“知道何时做”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在AI时代，我们面临的核心困境不再是“我不知道方法”，而是“面对这个具体情况，我应该用哪个方法？”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970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知识的诅咒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我们可能学习了成百上千的模型和工具，但在真实的业务场景中，它们往往交织在一起，难以分辨，无法快速准确调用。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413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260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0800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情境的复杂性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35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真实世界充满了不确定性、模糊性和利益冲突。没有两个完全相同的客户，也没有两次完全相同的危机，标准化方案往往失效。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2413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18500" y="2603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7630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选择的关键性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18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正确的方法用在错误的时机，其结果往往比不用方法更糟糕。一个关键节点的错误选择，足以导致整个项目或战略的失败。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953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因此，我们培训的核心必须转向：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训练“判断力” (Judgment) —— 在信息不完全、条件不完美时做出高质量决策的能力</a:t>
            </a:r>
            <a:endParaRPr lang="en-US" sz="2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这是基于深刻洞察和经验的智慧，是AI难以企及的领域，也是我们的核心竞争力。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战略要求 (What) —— 看见真实 · 跟上变化 · 立刻行动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8255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28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526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看见真实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See the Reality</a:t>
            </a:r>
            <a:endParaRPr lang="en-US" sz="11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定义：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穿透表象，洞察客户和市场的真实需求、潜在痛点和核心矛盾。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能力要求：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强大的共情能力、敏锐的观察能力和深度的分析能力。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讲师思考：</a:t>
            </a: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你能否引导学员，从客户的只言片语中，看到背后的业务压力和个人焦虑？</a:t>
            </a:r>
            <a:endParaRPr lang="en-US" sz="1200" b="0" i="1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6923" b="26923"/>
          <a:stretch>
            <a:fillRect/>
          </a:stretch>
        </p:blipFill>
        <p:spPr>
          <a:xfrm>
            <a:off x="4445000" y="1651000"/>
            <a:ext cx="3302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635500" y="3302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跟上变化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Adapt to Change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定义：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识别环境的动态变化，并迅速调整自己的认知、策略和行为，拒绝路径依赖。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能力要求：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保持开放心态、快速学习能力、灵活的应变与重组能力。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8255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288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7526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立刻行动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Take Action</a:t>
            </a:r>
            <a:endParaRPr lang="en-US" sz="11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2667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定义：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在复杂、模糊的情境中，基于有限信息，果断做出关键选择并推动执行落地。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能力要求：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清晰的决策框架、承担风险的勇气、高效的资源整合与执行力。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宁愿做错，不要不做 ”</a:t>
            </a:r>
            <a:endParaRPr lang="en-US" sz="1200" b="0" i="1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5981700"/>
            <a:ext cx="482600" cy="482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5842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这三大能力共同指向一个目标：</a:t>
            </a:r>
            <a:r>
              <a:rPr lang="en-US" sz="1800" b="1" i="0" u="none" strike="noStrike">
                <a:solidFill>
                  <a:srgbClr val="FEF0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培养具备高度情境适应性的决策者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当前缺口 (Gap) —— 培训的“最后一公里”困境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我们投入了大量资源进行培训，但效果往往不尽如人意。核心问题在于，我们解决了“知识传递”的问题，却没有解决“能力转化”的问题，导致培训效果在落地环节出现严重断层。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67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听得懂，但用不出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400"/>
              </a:spcBef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课堂上频频点头，觉得收获满满，但回到真实的工作场景，面对复杂的客户问题，依然束手无策。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根源：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培训内容过度“去情境化”，脱离了真实业务场景的压力和人际互动的复杂性。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413000"/>
            <a:ext cx="330200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0179" b="20179"/>
          <a:stretch>
            <a:fillRect/>
          </a:stretch>
        </p:blipFill>
        <p:spPr>
          <a:xfrm>
            <a:off x="4635500" y="2603500"/>
            <a:ext cx="2921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635500" y="3873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一线重复踩坑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宝贵经验未被有效传承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根源在于：经验仅存于少数资深员工的大脑中，缺乏提炼与标准化的分享机制，导致同类错误反复出现。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413000"/>
            <a:ext cx="330200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667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265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战略停留在口号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302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400"/>
              </a:spcBef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公司的战略方向非常清晰，但在执行层面层层衰减，最终变成一句空洞的口号，无法落地。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根源：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战略没有被转化为一线员工可理解、可执行的具体判断标准和行动指南。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5245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791200"/>
            <a:ext cx="533400" cy="533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651500"/>
            <a:ext cx="939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核心症结：</a:t>
            </a: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我们缺乏一个有效的载体，将“知道”转化为“做到”，将“个体经验”转化为“组织能力”。这正是培训的“最后一公里”难题所在。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核心解法 (How) —— 用“叙事”来沉淀判断力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面对“判断力”这种隐性、复杂的能力，我们该如何培养和传承？答案是——</a:t>
            </a:r>
            <a:r>
              <a:rPr lang="en-US" sz="1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 (Narrative)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什么是叙事？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302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叙事不是讲故事，而是</a:t>
            </a:r>
            <a:r>
              <a:rPr lang="en-US" sz="13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结构化地复盘一次真实的选择过程</a:t>
            </a: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它的核心是讲清楚一个人，在一个特定的处境下，如何做出选择，并导致了何种结果。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413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66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143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为什么叙事有效？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99000" y="3302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情境化学习：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将知识还原到真实情境，体验决策的复杂性。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激活大脑：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人类最有效的学习方式，同时激活理性与感性。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传递隐性知识：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捕捉难以言表的“直觉”，让隐性经验显性化。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2413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66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826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叙事的本质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82000" y="3302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不是展示成功，而是</a:t>
            </a: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暴露思考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它是一次关于“如何做出判断”的深度剖析与认知重建。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740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与其给答案，不如给案例；与其给案例，不如讲透一次选择 ”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叙事的黄金结构：一次完整的选择之旅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032000" cy="3175000"/>
          </a:xfrm>
          <a:prstGeom prst="roundRect">
            <a:avLst>
              <a:gd name="adj" fmla="val 75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889000" y="2667000"/>
            <a:ext cx="177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人 · Character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谁是决策者？他的角色、背景、目标和当时的心态是怎样的？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7"/>
            </p:custDataLst>
          </p:nvPr>
        </p:nvSpPr>
        <p:spPr>
          <a:xfrm>
            <a:off x="2946400" y="1651000"/>
            <a:ext cx="2032000" cy="3175000"/>
          </a:xfrm>
          <a:prstGeom prst="roundRect">
            <a:avLst>
              <a:gd name="adj" fmla="val 75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57600" y="1841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1"/>
            </p:custDataLst>
          </p:nvPr>
        </p:nvSpPr>
        <p:spPr>
          <a:xfrm>
            <a:off x="3073400" y="2667000"/>
            <a:ext cx="177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处境 · Situation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当时的背景是什么？面临哪些挑战、压力和限制条件？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2"/>
            </p:custDataLst>
          </p:nvPr>
        </p:nvSpPr>
        <p:spPr>
          <a:xfrm>
            <a:off x="5130800" y="1651000"/>
            <a:ext cx="2032000" cy="3175000"/>
          </a:xfrm>
          <a:prstGeom prst="roundRect">
            <a:avLst>
              <a:gd name="adj" fmla="val 750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42000" y="1841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6"/>
            </p:custDataLst>
          </p:nvPr>
        </p:nvSpPr>
        <p:spPr>
          <a:xfrm>
            <a:off x="5257800" y="2667000"/>
            <a:ext cx="177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1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选择 · Choice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【核心要素】面临哪些选项？最终选择了哪一个？为什么这样选？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7"/>
            </p:custDataLst>
          </p:nvPr>
        </p:nvSpPr>
        <p:spPr>
          <a:xfrm>
            <a:off x="7315200" y="1651000"/>
            <a:ext cx="2032000" cy="3175000"/>
          </a:xfrm>
          <a:prstGeom prst="roundRect">
            <a:avLst>
              <a:gd name="adj" fmla="val 75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26400" y="1841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1"/>
            </p:custDataLst>
          </p:nvPr>
        </p:nvSpPr>
        <p:spPr>
          <a:xfrm>
            <a:off x="7442200" y="2667000"/>
            <a:ext cx="177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结果 · Result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选择带来了什么后果？结果是好是坏？产生了哪些连锁反应？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22"/>
            </p:custDataLst>
          </p:nvPr>
        </p:nvSpPr>
        <p:spPr>
          <a:xfrm>
            <a:off x="9499600" y="1651000"/>
            <a:ext cx="2032000" cy="3175000"/>
          </a:xfrm>
          <a:prstGeom prst="roundRect">
            <a:avLst>
              <a:gd name="adj" fmla="val 75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10800" y="1841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6"/>
            </p:custDataLst>
          </p:nvPr>
        </p:nvSpPr>
        <p:spPr>
          <a:xfrm>
            <a:off x="9626600" y="2667000"/>
            <a:ext cx="177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反思 · Reflection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如果重来一次，会有什么不同？从这次经历中提炼出了什么经验？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7696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A5C5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397500"/>
            <a:ext cx="1026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核心洞察：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一个好的叙事，本质上就是一个精心设计的“判断力模拟器”，它能让学习者在安全、低成本的环境中，沉浸式地练习并内化做出高质量决策的思维方式。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运行机制 (System) —— 从案例到资产的流水线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“叙事”不是一次性的活动，而是一个持续运转的系统。我们需要建立一个从案例生产到资产沉淀的标准化流水线，让个体经验源源不断转化为组织资产。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03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案例生产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302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鼓励员工将日常工作中的真实挑战、成功或失败的真实案例，进行初步的叙事化整理。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84500" y="2286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9845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0" y="2603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619500" y="2603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结构化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36900" y="3302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使用“人-境-择-果-思”五要素模型对原始案例进行标准化加工，确保逻辑清晰、要素完整。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286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070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7500" y="2603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842000" y="2603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评分筛选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59400" y="3302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由内部专家组成的评审小组，从“复杂度、判断力、启发性”多维度评分，筛选出高质量的“黄金案例”。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2286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4295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0" y="2603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064500" y="2603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场景使用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81900" y="3302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将筛选后的案例应用于导师带教、业务复盘、培训教学等高频场景，最大化发挥案例价值。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2286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520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42500" y="2603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0287000" y="2603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资产沉淀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04400" y="3302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将最终打磨好的优质案例，分类存入公司统一的“组织判断力资产库”，形成企业核心知识库。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rcRect t="15178" b="15178"/>
          <a:stretch>
            <a:fillRect/>
          </a:stretch>
        </p:blipFill>
        <p:spPr>
          <a:xfrm>
            <a:off x="762000" y="4826000"/>
            <a:ext cx="3556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31" name="AutoShape 31"/>
          <p:cNvSpPr/>
          <p:nvPr/>
        </p:nvSpPr>
        <p:spPr>
          <a:xfrm>
            <a:off x="4572000" y="4826000"/>
            <a:ext cx="6858000" cy="1651000"/>
          </a:xfrm>
          <a:prstGeom prst="roundRect">
            <a:avLst>
              <a:gd name="adj" fmla="val 6153"/>
            </a:avLst>
          </a:prstGeom>
          <a:solidFill>
            <a:srgbClr val="4A5C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6000" y="51435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461000" y="5016500"/>
            <a:ext cx="571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这是一个持续强化的正向循环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案例的广泛使用会激发员工更多的生产热情；更高质量的案例沉淀，又能带来更好的业务赋能效果。这一闭环最终将推动整个组织的判断力水平实现螺旋式上升。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使用场景 (Value) —— 让判断力训练融入日常工作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“叙事机制”可以融入我们日常工作的多种场景，让学习随时随地发生，从单向输入变为主动思考。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286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带教新人 (Onboarding)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给新人分发大量SOP手册，学习门槛高，缺乏代入感。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叙事方式：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导师分享真实案例：“入职时我遇到过类似客户，当时是怎么想、怎么做的？”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帮助新人快速理解业务复杂性，缩短成长周期。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2286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286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复盘总结 (Retrospective)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笼统地讨论“哪里做得好/不好”，容易流于形式。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叙事方式：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讲述关键决策故事，引导全员分析：“在那个关键节点，还有什么其他选择？”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跳出表面现象，深入挖掘成功或失败的根本逻辑。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2286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课堂教学 (Classroom)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讲师单向灌输理论与方法论，学员被动接收，难以内化。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叙事方式：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将知识点融入真实案例，让学员代入角色思考：“如果你是主角，你会怎么做？”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变被动听讲为主动思考，让知识真正转化为能力。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3975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3975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本质：我们不是在简单地“讲授”方法，而是在“训练”判断。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行动起点 (Now) —— 先行者·讲师叙事行动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伟大的变革，始于微小的行动。我们将从一个简单但有力的行动开始，共同构建属于我们的判断力资产。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87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行动概况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行动名称：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先行者·讲师叙事行动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启动时间：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参与对象：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全体TGC认证讲师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387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任务与结构要求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04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提交一个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真实的、亲身经历的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工作挑战案例。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叙事结构：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 - 境 -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择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果 - 思（重点突出你的“关键选择”）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41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2387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“三句话” 提交格式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04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我看见了什么？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(处境与挑战)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我做了什么？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(关键选择与行动)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发生了什么？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(结果与反思)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461000"/>
            <a:ext cx="762000" cy="762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159000" y="5397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行动目标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在5月底前，收集并整理第一批高质量的讲师叙事案例，为公司的“组织判断力资产库”奠定坚实的第一块基石。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最终目标 (Impact) —— 构建组织的“判断力资产”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9812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47800" y="1955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个体经验 (Individual Experience)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2667000"/>
            <a:ext cx="2895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分散在每个员工大脑中的、未经提炼的、难以复制的宝贵经验。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2730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➜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(叙事机制)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26000" y="1778000"/>
            <a:ext cx="3302000" cy="2540000"/>
          </a:xfrm>
          <a:prstGeom prst="roundRect">
            <a:avLst>
              <a:gd name="adj" fmla="val 40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0" y="19812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11800" y="1955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组织判断力资产库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29200" y="2667000"/>
            <a:ext cx="2895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一个结构化、可检索、高质量的案例数据库。它是集体智慧的结晶，是应对未来挑战的“决策导航系统”。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730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➜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(持续迭代)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0" y="1778000"/>
            <a:ext cx="2540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3200" y="1981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575800" y="19558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组织能力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93200" y="2667000"/>
            <a:ext cx="2133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当资产库被持续使用时，将潜移默化地提升整个组织的决策质量和行动效率。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0F3F2">
              <a:alpha val="100000"/>
            </a:srgbClr>
          </a:solidFill>
          <a:ln w="12700" cap="flat" cmpd="sng">
            <a:solidFill>
              <a:srgbClr val="4A5C5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8895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飞跃一：从个体经验 到 组织能力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打破经验的壁垒，让少数人的智慧，转化为所有人都能调用的能力。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69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0F3F2">
              <a:alpha val="100000"/>
            </a:srgbClr>
          </a:solidFill>
          <a:ln w="12700" cap="flat" cmpd="sng">
            <a:solidFill>
              <a:srgbClr val="4A5C5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953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8895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飞跃二：从一次正确 到 可复制成功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沉淀成功背后的逻辑与判断标准，让偶然的灵光一闪，变成必然的成功结果。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总结：从个体经验到组织能力的进化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我们正在构建一个系统，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将分散在每个员工大脑中的宝贵经验，</a:t>
            </a:r>
            <a:endParaRPr lang="en-US" sz="2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转化为</a:t>
            </a:r>
            <a:r>
              <a:rPr lang="en-US" sz="26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可检索 · 可复用 · 可传承</a:t>
            </a: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的组织判断力资产。</a:t>
            </a:r>
            <a:endParaRPr lang="en-US" sz="2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30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这不仅仅是知识的沉淀，更是组织智慧的进化。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我们不是在做一次活动，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而是在把培训，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937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4572000"/>
            <a:ext cx="419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4826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「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教答案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4572000"/>
            <a:ext cx="419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A5C51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4826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升级为 「</a:t>
            </a:r>
            <a:r>
              <a:rPr lang="en-US" sz="34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训练选择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A5C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5C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You!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感谢您的聆听与指导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2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3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4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5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6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7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8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9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10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11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12.xml><?xml version="1.0" encoding="utf-8"?>
<p:tagLst xmlns:p="http://schemas.openxmlformats.org/presentationml/2006/main">
  <p:tag name="KSO_WM_DIAGRAM_VIRTUALLY_FRAME" val="{&quot;height&quot;:150,&quot;left&quot;:60,&quot;top&quot;:190,&quot;width&quot;:840}"/>
</p:tagLst>
</file>

<file path=ppt/tags/tag13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4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5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6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7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8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19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0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1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2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3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4.xml><?xml version="1.0" encoding="utf-8"?>
<p:tagLst xmlns:p="http://schemas.openxmlformats.org/presentationml/2006/main">
  <p:tag name="KSO_WM_DIAGRAM_VIRTUALLY_FRAME" val="{&quot;height&quot;:230,&quot;left&quot;:60,&quot;top&quot;:190,&quot;width&quot;:840}"/>
</p:tagLst>
</file>

<file path=ppt/tags/tag25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26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27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28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29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0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1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2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3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4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5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6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7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8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ags/tag39.xml><?xml version="1.0" encoding="utf-8"?>
<p:tagLst xmlns:p="http://schemas.openxmlformats.org/presentationml/2006/main">
  <p:tag name="KSO_WM_DIAGRAM_VIRTUALLY_FRAME" val="{&quot;height&quot;:250,&quot;left&quot;:60,&quot;top&quot;:130,&quot;width&quot;:84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4054</Words>
  <Application>WPS 演示</Application>
  <PresentationFormat/>
  <Paragraphs>290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唐文莉(糖心莉)</cp:lastModifiedBy>
  <cp:revision>1</cp:revision>
  <dcterms:created xsi:type="dcterms:W3CDTF">2026-05-06T05:54:43Z</dcterms:created>
  <dcterms:modified xsi:type="dcterms:W3CDTF">2026-05-06T05:54:43Z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CF425779C6AA4A7C97C52933E7B9F687_12</vt:lpwstr>
  </property>
</Properties>
</file>
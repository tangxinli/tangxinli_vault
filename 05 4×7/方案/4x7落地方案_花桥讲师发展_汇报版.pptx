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286000" cy="19431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27432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94360"/>
            <a:ext cx="8321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4×7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经纪人底层能力训练体系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4231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落地方案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11480" y="3127248"/>
            <a:ext cx="3200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2918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花桥学堂 · 讲师发展中心  |  2026年6月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7490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v0.1 · 内部汇报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45720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A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HUAQIAO ACADEMY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  目录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6583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4692"/>
            <a:ext cx="411480" cy="4114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46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89611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背景与命题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1887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战略来源 / 花桥承接命题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4592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69364"/>
            <a:ext cx="411480" cy="41148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693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70078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底层设计：4×7 能力图谱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19933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4类核心能力 × 7个流程节点 / 28个能力单元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450592"/>
            <a:ext cx="8503920" cy="6583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74036"/>
            <a:ext cx="411480" cy="41148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740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50545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2件重要事件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279806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能力解读共识会 / 标杆产出经纪人动作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255264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78708"/>
            <a:ext cx="411480" cy="411480"/>
          </a:xfrm>
          <a:prstGeom prst="ellipse">
            <a:avLst/>
          </a:prstGeom>
          <a:solidFill>
            <a:srgbClr val="E8723A"/>
          </a:solidFill>
          <a:ln w="12700">
            <a:solidFill>
              <a:srgbClr val="E872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787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31012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落地运营：三阶段推进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360273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能力图谱建设 → 内容落地 → 规模复制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059936"/>
            <a:ext cx="8503920" cy="6583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83380"/>
            <a:ext cx="411480" cy="4114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833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41148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关键问题与待确认事项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5840" y="440740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5个核心决策项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背景与命题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1508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73152" cy="1508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AI时代，消费者需要的不是信息播报机，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而是能理解处境、做出判断、提供路径、承担立场的顾问型服务者。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大S（彭永东）  2026年5月26日培训研讨会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578608"/>
            <a:ext cx="2743200" cy="2286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5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697480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时代背景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31012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AI替代信息播报功能，经纪人价值需要向「顾问型服务者」升级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8688" y="2578608"/>
            <a:ext cx="2743200" cy="2286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5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01568" y="2697480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4×7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95928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能力框架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01568" y="331012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4类核心能力 × 7个服务流程节点，构建服务者底层能力体系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17336" y="2578608"/>
            <a:ext cx="2743200" cy="2286000"/>
          </a:xfrm>
          <a:prstGeom prst="rect">
            <a:avLst/>
          </a:prstGeom>
          <a:solidFill>
            <a:srgbClr val="1B2A4A"/>
          </a:solidFill>
          <a:ln w="25400">
            <a:solidFill>
              <a:srgbClr val="D4A84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0216" y="2697480"/>
            <a:ext cx="502920" cy="50292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0216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HQ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94576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花桥命题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0216" y="331012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0DC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职能中心（花桥学堂）承接：构建4×7的培训落地体系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底层设计：4×7 能力图谱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4×7 = 4类核心能力  ×  服务者的7个流程节点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011680" cy="1508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984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8105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2103120"/>
            <a:ext cx="1792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读懂消费者真实处境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A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不是听完就走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9736" y="1261872"/>
            <a:ext cx="2011680" cy="1508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9736" y="12984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59736" y="18105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Judge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9464" y="2103120"/>
            <a:ext cx="1792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帮消费者筛选选项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A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给出专业建议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99432" y="1261872"/>
            <a:ext cx="2011680" cy="1508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12984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99432" y="18105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103120"/>
            <a:ext cx="1792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为消费者设计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A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下一步行动方案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39128" y="1261872"/>
            <a:ext cx="2011680" cy="1508760"/>
          </a:xfrm>
          <a:prstGeom prst="rect">
            <a:avLst/>
          </a:prstGeom>
          <a:solidFill>
            <a:srgbClr val="E8723A"/>
          </a:solidFill>
          <a:ln w="12700">
            <a:solidFill>
              <a:srgbClr val="E872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39128" y="12984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立场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39128" y="18105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48856" y="2103120"/>
            <a:ext cx="1792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与消费者站同一侧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A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敢于承担专业责任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907792"/>
            <a:ext cx="8503920" cy="438912"/>
          </a:xfrm>
          <a:prstGeom prst="rect">
            <a:avLst/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0779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 大S比喻：内存16兆（只会听）→ 奔腾CPU（能判断）→ 负责任的顾问（敢承担）— 四层跃迁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493008"/>
            <a:ext cx="8503920" cy="621792"/>
          </a:xfrm>
          <a:prstGeom prst="rect">
            <a:avLst/>
          </a:prstGeom>
          <a:solidFill>
            <a:srgbClr val="F3F4F6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602736"/>
            <a:ext cx="402336" cy="40233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35295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客户赛道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38221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寻找客户 → 客户面访 → 首看 → 多看 → 探盘 → 正签 → 售后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242816"/>
            <a:ext cx="8503920" cy="621792"/>
          </a:xfrm>
          <a:prstGeom prst="rect">
            <a:avLst/>
          </a:prstGeom>
          <a:solidFill>
            <a:srgbClr val="E8EDF5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4352544"/>
            <a:ext cx="402336" cy="40233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352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42793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业主赛道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" y="45720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寻找业主 → 获取委托 → 初次面访 → 深度面访 → 带看反馈 → 谈判正签 → 售后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28个服务场景能力图谱（客户赛道示意）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1481328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4980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流程节点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01368" y="749808"/>
            <a:ext cx="1828800" cy="402336"/>
          </a:xfrm>
          <a:prstGeom prst="rect">
            <a:avLst/>
          </a:prstGeom>
          <a:solidFill>
            <a:srgbClr val="0E74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01368" y="7498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30168" y="749808"/>
            <a:ext cx="1828800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0168" y="7498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58968" y="749808"/>
            <a:ext cx="1828800" cy="402336"/>
          </a:xfrm>
          <a:prstGeom prst="rect">
            <a:avLst/>
          </a:prstGeom>
          <a:solidFill>
            <a:srgbClr val="D4A8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58968" y="7498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87768" y="749808"/>
            <a:ext cx="1828800" cy="402336"/>
          </a:xfrm>
          <a:prstGeom prst="rect">
            <a:avLst/>
          </a:prstGeom>
          <a:solidFill>
            <a:srgbClr val="E872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87768" y="7498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1152144"/>
            <a:ext cx="1481328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152144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寻找客户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01368" y="1152144"/>
            <a:ext cx="1828800" cy="566928"/>
          </a:xfrm>
          <a:prstGeom prst="rect">
            <a:avLst/>
          </a:prstGeom>
          <a:solidFill>
            <a:srgbClr val="E8EDF5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47088" y="115214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理解购房出发点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与生活处境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30168" y="1152144"/>
            <a:ext cx="1828800" cy="566928"/>
          </a:xfrm>
          <a:prstGeom prst="rect">
            <a:avLst/>
          </a:prstGeom>
          <a:solidFill>
            <a:srgbClr val="E8EDF5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75888" y="115214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判断真实购房意向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和预算匹配度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58968" y="1152144"/>
            <a:ext cx="1828800" cy="566928"/>
          </a:xfrm>
          <a:prstGeom prst="rect">
            <a:avLst/>
          </a:prstGeom>
          <a:solidFill>
            <a:srgbClr val="E8EDF5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04688" y="115214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设计接触路径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与初次建联逻辑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87768" y="1152144"/>
            <a:ext cx="1828800" cy="566928"/>
          </a:xfrm>
          <a:prstGeom prst="rect">
            <a:avLst/>
          </a:prstGeom>
          <a:solidFill>
            <a:srgbClr val="E8EDF5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3488" y="115214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以客户长期利益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为导向不急推销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1719072"/>
            <a:ext cx="1481328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719072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客户面访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01368" y="1719072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47088" y="171907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识别显性需求背后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的隐性诉求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30168" y="1719072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75888" y="171907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判断客户决策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所处阶段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58968" y="1719072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04688" y="171907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规划下一步推进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节点与带看方案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87768" y="1719072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33488" y="171907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承诺帮找到真正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适合的房子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2286000"/>
            <a:ext cx="1481328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28600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 首看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01368" y="2286000"/>
            <a:ext cx="1828800" cy="566928"/>
          </a:xfrm>
          <a:prstGeom prst="rect">
            <a:avLst/>
          </a:prstGeom>
          <a:solidFill>
            <a:srgbClr val="E8EDF5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47088" y="22860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感知客户现场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真实情绪变化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30168" y="2286000"/>
            <a:ext cx="1828800" cy="566928"/>
          </a:xfrm>
          <a:prstGeom prst="rect">
            <a:avLst/>
          </a:prstGeom>
          <a:solidFill>
            <a:srgbClr val="E8EDF5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75888" y="22860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判断房源是否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匹配真实需求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58968" y="2286000"/>
            <a:ext cx="1828800" cy="566928"/>
          </a:xfrm>
          <a:prstGeom prst="rect">
            <a:avLst/>
          </a:prstGeom>
          <a:solidFill>
            <a:srgbClr val="E8EDF5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04688" y="22860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设计带看讲解逻辑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引导重点关注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87768" y="2286000"/>
            <a:ext cx="1828800" cy="566928"/>
          </a:xfrm>
          <a:prstGeom prst="rect">
            <a:avLst/>
          </a:prstGeom>
          <a:solidFill>
            <a:srgbClr val="E8EDF5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33488" y="22860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对房源优缺点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直接表态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2852928"/>
            <a:ext cx="1481328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2852928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C4 多看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01368" y="285292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47088" y="28529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识别客户内心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取舍权重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30168" y="285292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75888" y="28529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判断哪套房最接近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客户核心需求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58968" y="285292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04688" y="28529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主动收窄选项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给出推荐理由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287768" y="285292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33488" y="28529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敢说「不建议选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XX，原因是…」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20040" y="3419856"/>
            <a:ext cx="1481328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3419856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C5 探盘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801368" y="3419856"/>
            <a:ext cx="1828800" cy="566928"/>
          </a:xfrm>
          <a:prstGeom prst="rect">
            <a:avLst/>
          </a:prstGeom>
          <a:solidFill>
            <a:srgbClr val="E8EDF5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47088" y="341985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读懂客户对意向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房源的真实态度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30168" y="3419856"/>
            <a:ext cx="1828800" cy="566928"/>
          </a:xfrm>
          <a:prstGeom prst="rect">
            <a:avLst/>
          </a:prstGeom>
          <a:solidFill>
            <a:srgbClr val="E8EDF5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75888" y="341985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判断谈判时机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与价格预期差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458968" y="3419856"/>
            <a:ext cx="1828800" cy="566928"/>
          </a:xfrm>
          <a:prstGeom prst="rect">
            <a:avLst/>
          </a:prstGeom>
          <a:solidFill>
            <a:srgbClr val="E8EDF5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04688" y="341985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设计价格谈判策略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与推进步骤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287768" y="3419856"/>
            <a:ext cx="1828800" cy="566928"/>
          </a:xfrm>
          <a:prstGeom prst="rect">
            <a:avLst/>
          </a:prstGeom>
          <a:solidFill>
            <a:srgbClr val="E8EDF5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33488" y="341985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帮客户争取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最合理的条件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20040" y="3986784"/>
            <a:ext cx="1481328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3986784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C6 正签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801368" y="3986784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47088" y="39867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理解签约顾虑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与心理障碍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30168" y="3986784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75888" y="39867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判断哪些顾虑是真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哪些是情绪性的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458968" y="3986784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504688" y="39867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设计签约推进话术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与应急预案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287768" y="3986784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33488" y="39867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承诺「合同权益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我负责守住」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20040" y="4553712"/>
            <a:ext cx="1481328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5760" y="4553712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C7 售后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1801368" y="4553712"/>
            <a:ext cx="1828800" cy="566928"/>
          </a:xfrm>
          <a:prstGeom prst="rect">
            <a:avLst/>
          </a:prstGeom>
          <a:solidFill>
            <a:srgbClr val="E8EDF5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847088" y="455371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理解交付期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期望与担忧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630168" y="4553712"/>
            <a:ext cx="1828800" cy="566928"/>
          </a:xfrm>
          <a:prstGeom prst="rect">
            <a:avLst/>
          </a:prstGeom>
          <a:solidFill>
            <a:srgbClr val="E8EDF5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675888" y="455371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判断哪些问题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需主动介入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5458968" y="4553712"/>
            <a:ext cx="1828800" cy="566928"/>
          </a:xfrm>
          <a:prstGeom prst="rect">
            <a:avLst/>
          </a:prstGeom>
          <a:solidFill>
            <a:srgbClr val="E8EDF5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504688" y="455371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制定售后跟进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节点与沟通计划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287768" y="4553712"/>
            <a:ext cx="1828800" cy="566928"/>
          </a:xfrm>
          <a:prstGeom prst="rect">
            <a:avLst/>
          </a:prstGeom>
          <a:solidFill>
            <a:srgbClr val="E8EDF5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333488" y="455371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主动承担中间人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不推卸责任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注：业主赛道另有28个能力单元，两赛道合计 56 个能力单元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能力单元三层拆解逻辑（示例：C1 × 理解）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56692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827532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275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7863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能力解读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1069848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这个场景下，「理解」意味着什么？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463040"/>
            <a:ext cx="850392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540764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5407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14996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经纪人动作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32688" y="1783080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什么样的具体动作，代表达到了能力标准？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176272"/>
            <a:ext cx="8503920" cy="5669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253996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2539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2212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评价标准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2688" y="2496312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 / 及格 / 不合格动作分别是什么？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907792"/>
            <a:ext cx="8503920" cy="205740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07792"/>
            <a:ext cx="64008" cy="20574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44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示例：C1 寻找客户  ×  理解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3337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能力解读：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333756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不只是识别「有没有购房意向」，而是感知潜在客户的生活处境——改善型还是刚需？有无隐藏紧迫性？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657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优秀动作：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3657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初次沟通时主动问出「出行/工作/孩子上学」等生活状态，从生活场景倒推真实需求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39776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及格动作：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20240" y="397764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能问出预算区间和大概区域，但停留在信息收集层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297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不合格动作：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20240" y="429768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直接介绍房源，未做任何需求了解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46177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评价方式：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20240" y="461772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AI模拟客户对话，事后自评 + AI评价，识别能力差距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2件重要事件  |  事件一：4×7能力解读共识会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475488"/>
          </a:xfrm>
          <a:prstGeom prst="rect">
            <a:avLst/>
          </a:prstGeom>
          <a:solidFill>
            <a:srgbClr val="E8EDF5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9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目标：联动花桥 + 深圳城市客赋，完成28个能力单元（先跑客户赛道）的标准解读，形成共同认可的能力标准基准版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参与方与角色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719072"/>
            <a:ext cx="41605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719072"/>
            <a:ext cx="64008" cy="10241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556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花桥学堂（讲师发展）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角色：主导方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225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框架设计 / 能力解读初稿 / 会议组织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719072"/>
            <a:ext cx="41605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719072"/>
            <a:ext cx="64008" cy="102412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7556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深圳TOP经纪人（2-3位）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0848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角色：一线实践验证者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3225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验证标准真实性 / 提供真实经纪人动作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41605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64008" cy="10241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6265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深圳平台运营管理者（1-2位）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2918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角色：业务视角补充者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5295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从城市管理视角补充能力差距和高频失误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2926080"/>
            <a:ext cx="41605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2926080"/>
            <a:ext cx="64008" cy="1024128"/>
          </a:xfrm>
          <a:prstGeom prst="rect">
            <a:avLst/>
          </a:prstGeom>
          <a:solidFill>
            <a:srgbClr val="E8723A"/>
          </a:solidFill>
          <a:ln w="12700">
            <a:solidFill>
              <a:srgbClr val="E872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96265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深圳花桥讲师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32918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角色：课程化转化者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5295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将共识结果转化为可训练、可评价的课程内容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40416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建议时间节点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407408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3708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T+1周：完成能力解读初稿，发深圳预读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4407408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3708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T+2周：线上/线下共识会（深圳TOP经纪人+管理者参与）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407408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3708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T+3周：修订完成，交付能力标准v1.0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7472" y="4379976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3708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T+1周：完成能力解读初稿，发深圳预读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47472" y="4636008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62686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T+2周：线上/线下共识会，深圳TOP经纪人+管理者参与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47472" y="4892040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T+3周：修订完成，交付能力标准 v1.0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2件重要事件  |  事件二：标杆产出经纪人能力动作 + TGC内容积累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核心逻辑：从真实的消费者服务案例和故事中生长出来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965960" cy="7498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70432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找到能力标准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389888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68880" y="1170432"/>
            <a:ext cx="196596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170432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找到城市标杆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34840" y="1389888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17720" y="1170432"/>
            <a:ext cx="1965960" cy="7498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170432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产出经纪人动作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（案例/故事）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1389888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66560" y="1170432"/>
            <a:ext cx="1965960" cy="749808"/>
          </a:xfrm>
          <a:prstGeom prst="rect">
            <a:avLst/>
          </a:prstGeom>
          <a:solidFill>
            <a:srgbClr val="E8723A"/>
          </a:solidFill>
          <a:ln w="12700">
            <a:solidFill>
              <a:srgbClr val="E872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170432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能力图谱填充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TGC内容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029968"/>
            <a:ext cx="85039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029968"/>
            <a:ext cx="64008" cy="47548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0299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 核心设计亮点：产出TGC内容的人，最好同时具备两个身份 = TOP经纪人/城市管理者  +  花桥讲师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261518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四种人员情况与对应路径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999232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99232"/>
            <a:ext cx="64008" cy="89611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既是TOP经纪人/管理者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又是花桥讲师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" y="3383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路径：直接参与能力图谱共创 + 内容产出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" y="36210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激励：内容产出课酬 + 讲师序列保级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999232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999232"/>
            <a:ext cx="64008" cy="8961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是TOP经纪人/管理者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但不是花桥讲师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91456" y="3383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路径：参加花桥城市实战赋能课 → 认证为讲师 → 参与产出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91456" y="36210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激励：讲师认证荣誉 + 后续课酬资格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986784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986784"/>
            <a:ext cx="64008" cy="89611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" y="4005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已是花桥讲师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未直接参与内容产出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8056" y="43708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路径：通过培育新讲师产出内容，作为老讲师的保级路径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8056" y="46085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激励：培育贡献计入序列评级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986784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986784"/>
            <a:ext cx="64008" cy="896112"/>
          </a:xfrm>
          <a:prstGeom prst="rect">
            <a:avLst/>
          </a:prstGeom>
          <a:solidFill>
            <a:srgbClr val="E8723A"/>
          </a:solidFill>
          <a:ln w="12700">
            <a:solidFill>
              <a:srgbClr val="E872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4005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已是花桥讲师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深入一线有实践经验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91456" y="43708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路径：拿到符合能力图谱的实践 → 产出内容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91456" y="46085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激励：课酬 + 讲师序列保级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花桥 ↔ 深圳城市客赋分工表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069080" cy="4389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26280" y="749808"/>
            <a:ext cx="4297680" cy="43891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49808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🏛  花桥学堂（讲师发展）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26280" y="74980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🏙  深圳城市客赋中心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335024"/>
            <a:ext cx="109728" cy="5669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98448"/>
            <a:ext cx="4069080" cy="658368"/>
          </a:xfrm>
          <a:prstGeom prst="rect">
            <a:avLst/>
          </a:prstGeom>
          <a:solidFill>
            <a:srgbClr val="E8EDF5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335024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整体框架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17320" y="1335024"/>
            <a:ext cx="18288" cy="585216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81328" y="1335024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4×7能力框架设计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共识会组织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26280" y="1298448"/>
            <a:ext cx="4297680" cy="658368"/>
          </a:xfrm>
          <a:prstGeom prst="rect">
            <a:avLst/>
          </a:prstGeom>
          <a:solidFill>
            <a:srgbClr val="F3F4F6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335024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提供一线验证视角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2048256"/>
            <a:ext cx="109728" cy="5669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011680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048256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标杆筛选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17320" y="2048256"/>
            <a:ext cx="18288" cy="585216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81328" y="2048256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提供筛选标准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（基于能力图谱）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2011680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2048256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按标准找到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城市标杆候选人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0" y="2761488"/>
            <a:ext cx="109728" cy="5669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724912"/>
            <a:ext cx="4069080" cy="658368"/>
          </a:xfrm>
          <a:prstGeom prst="rect">
            <a:avLst/>
          </a:prstGeom>
          <a:solidFill>
            <a:srgbClr val="E8EDF5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761488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内容产出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17320" y="2761488"/>
            <a:ext cx="18288" cy="585216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81328" y="2761488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叙事提取方法指导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内容质量把关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26280" y="2724912"/>
            <a:ext cx="4297680" cy="658368"/>
          </a:xfrm>
          <a:prstGeom prst="rect">
            <a:avLst/>
          </a:prstGeom>
          <a:solidFill>
            <a:srgbClr val="F3F4F6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2761488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组织城市资源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提交案例/产出TGC内容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89120" y="3474720"/>
            <a:ext cx="109728" cy="5669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438144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474720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TGC审核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417320" y="3474720"/>
            <a:ext cx="18288" cy="585216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81328" y="3474720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内容标准审核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纳入TGC语料库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26280" y="3438144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3474720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内容产出主力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89120" y="4187952"/>
            <a:ext cx="109728" cy="5669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151376"/>
            <a:ext cx="4069080" cy="658368"/>
          </a:xfrm>
          <a:prstGeom prst="rect">
            <a:avLst/>
          </a:prstGeom>
          <a:solidFill>
            <a:srgbClr val="E8EDF5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4187952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讲师认证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417320" y="4187952"/>
            <a:ext cx="18288" cy="585216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81328" y="418795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花桥城市实战赋能课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设计+交付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26280" y="4151376"/>
            <a:ext cx="4297680" cy="658368"/>
          </a:xfrm>
          <a:prstGeom prst="rect">
            <a:avLst/>
          </a:prstGeom>
          <a:solidFill>
            <a:srgbClr val="F3F4F6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4187952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推荐城市候选讲师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参加认证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0040" y="4864608"/>
            <a:ext cx="850392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86460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核心心法：花桥下城市不是「下任务」，而是带着讲师认证/序列晋升/城市赋能资源/内容课酬一起来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8723A"/>
          </a:solidFill>
          <a:ln w="12700">
            <a:solidFill>
              <a:srgbClr val="E87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落地运营：三阶段推进路径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182112" y="1920240"/>
            <a:ext cx="32004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0" y="1920240"/>
            <a:ext cx="32004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63824" y="188366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62472" y="188366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04672"/>
            <a:ext cx="27432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2296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8680" y="822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0607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当前主攻 🎯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15727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能力图谱建设 + TGC内容产出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" y="2121408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当下优先，以深圳为样板城市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跑通花桥↔城市全流程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" y="2816352"/>
            <a:ext cx="2523744" cy="310896"/>
          </a:xfrm>
          <a:prstGeom prst="rect">
            <a:avLst/>
          </a:prstGeom>
          <a:solidFill>
            <a:srgbClr val="E8EDF5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1635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4×7能力图谱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" y="3200400"/>
            <a:ext cx="2523744" cy="310896"/>
          </a:xfrm>
          <a:prstGeom prst="rect">
            <a:avLst/>
          </a:prstGeom>
          <a:solidFill>
            <a:srgbClr val="E8EDF5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00400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能力解读共识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" y="3584448"/>
            <a:ext cx="2523744" cy="310896"/>
          </a:xfrm>
          <a:prstGeom prst="rect">
            <a:avLst/>
          </a:prstGeom>
          <a:solidFill>
            <a:srgbClr val="E8EDF5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8444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TGC内容初产出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" y="3968496"/>
            <a:ext cx="2523744" cy="310896"/>
          </a:xfrm>
          <a:prstGeom prst="rect">
            <a:avLst/>
          </a:prstGeom>
          <a:solidFill>
            <a:srgbClr val="E8EDF5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68496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讲师认证下城市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27832" y="804672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27832" y="804672"/>
            <a:ext cx="2743200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82296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776472" y="822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76472" y="10607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内容落地应用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15727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TGC内容在城市/花桥/北京链家落地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37560" y="2121408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经纪人能力诊断与差距训练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试点BOX/AI模拟训练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37560" y="2816352"/>
            <a:ext cx="2523744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0712" y="281635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经纪人能力诊断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37560" y="3200400"/>
            <a:ext cx="2523744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10712" y="3200400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28单元定向训练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37560" y="3584448"/>
            <a:ext cx="2523744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0712" y="358444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Practice Box试点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37560" y="3968496"/>
            <a:ext cx="2523744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10712" y="3968496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效果数据收集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35624" y="804672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35624" y="804672"/>
            <a:ext cx="2743200" cy="658368"/>
          </a:xfrm>
          <a:prstGeom prst="rect">
            <a:avLst/>
          </a:prstGeom>
          <a:solidFill>
            <a:srgbClr val="E8723A"/>
          </a:solidFill>
          <a:ln w="12700">
            <a:solidFill>
              <a:srgbClr val="E872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27064" y="82296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684264" y="822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84264" y="10607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规模化复制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45352" y="15727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以深圳为范例，规模化复制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245352" y="2121408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花桥联动其他城市滚动推进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能力图谱持续迭代丰富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45352" y="2816352"/>
            <a:ext cx="2523744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18504" y="281635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7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城市落地标准包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45352" y="3200400"/>
            <a:ext cx="2523744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18504" y="3200400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7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多城市滚动推进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45352" y="3584448"/>
            <a:ext cx="2523744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18504" y="358444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7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图谱持续丰富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45352" y="3968496"/>
            <a:ext cx="2523744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18504" y="3968496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7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服务能力飞轮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第一阶段核心工作 &amp; 关键心法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16052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498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花桥学堂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任务1：4×7运营规划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输出4×7能力框架文档（含56个能力单元）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制定第一阶段工作计划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4825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牵头设计共识会方案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4505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任务2：与深圳共创流程设计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设计花桥↔深圳协同工作流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明确深圳资源边界（人数/时间）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31012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设计内容产出标准化模板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749808"/>
            <a:ext cx="4160520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7498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深圳城市客赋中心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1188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任务1：协同能力解读共识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4630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找到2-3位TOP经纪人（近6月持续拿到结果）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75564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找到1-2位平台运营管理者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04825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预读能力框架初稿，带案例参会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24505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任务2：找到城市标杆，产出内容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7249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基于共识标准找到城市标杆经纪人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0175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提交案例故事，产出TGC内容/课件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26280" y="749808"/>
            <a:ext cx="73152" cy="4297680"/>
          </a:xfrm>
          <a:prstGeom prst="rect">
            <a:avLst/>
          </a:prstGeom>
          <a:solidFill>
            <a:srgbClr val="E0E5EF"/>
          </a:solidFill>
          <a:ln w="12700">
            <a:solidFill>
              <a:srgbClr val="E0E5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462272"/>
            <a:ext cx="850392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462272"/>
            <a:ext cx="73152" cy="5669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4622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核心心法：新的讲师保级本身就要求产出TGC内容 — 这意味着4×7的内容产出不是额外任务，而是打通保级要求与4×7建设，形成自发的内驱动力。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关键问题与待确认事项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以下5个问题需要与中心负责人确认：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52144"/>
            <a:ext cx="8503920" cy="658368"/>
          </a:xfrm>
          <a:prstGeom prst="rect">
            <a:avLst/>
          </a:prstGeom>
          <a:solidFill>
            <a:srgbClr val="E8EDF5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52144"/>
            <a:ext cx="64008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2070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深圳城市客赋的接入方式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4996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花桥主动找负责人约谈，还是通过中心层面协调？需要哪个层级的支持信号？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901952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901952"/>
            <a:ext cx="64008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29968"/>
            <a:ext cx="384048" cy="38404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19568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讲师认证场下城市的资源支持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2494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花桥城市实战赋能课，花桥要支持哪些资源（讲师、内容、认证资质）？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51760"/>
            <a:ext cx="8503920" cy="658368"/>
          </a:xfrm>
          <a:prstGeom prst="rect">
            <a:avLst/>
          </a:prstGeom>
          <a:solidFill>
            <a:srgbClr val="E8EDF5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651760"/>
            <a:ext cx="64008" cy="6583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270662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内容产出的课酬标准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2999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TGC内容产出课酬如何设计？由花桥出，还是城市出？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401568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401568"/>
            <a:ext cx="64008" cy="658368"/>
          </a:xfrm>
          <a:prstGeom prst="rect">
            <a:avLst/>
          </a:prstGeom>
          <a:solidFill>
            <a:srgbClr val="E8723A"/>
          </a:solidFill>
          <a:ln w="12700">
            <a:solidFill>
              <a:srgbClr val="E87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529584"/>
            <a:ext cx="384048" cy="384048"/>
          </a:xfrm>
          <a:prstGeom prst="ellipse">
            <a:avLst/>
          </a:prstGeom>
          <a:solidFill>
            <a:srgbClr val="E8723A"/>
          </a:solidFill>
          <a:ln w="12700">
            <a:solidFill>
              <a:srgbClr val="E872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4564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 SAMPLE 的选人标准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7490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首批标杆经纪人是由深圳自主提名，还是花桥给出筛选标准后深圳提名？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151376"/>
            <a:ext cx="8503920" cy="658368"/>
          </a:xfrm>
          <a:prstGeom prst="rect">
            <a:avLst/>
          </a:prstGeom>
          <a:solidFill>
            <a:srgbClr val="E8EDF5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151376"/>
            <a:ext cx="64008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279392"/>
            <a:ext cx="384048" cy="38404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0120" y="42062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第一阶段时间窗口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60120" y="44988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能力解读共识会的目标时间点，建议结合北京总监项目时间窗口（6月8-12日）统筹排期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22860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方案总结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1828800"/>
          </a:xfrm>
          <a:prstGeom prst="rect">
            <a:avLst/>
          </a:prstGeom>
          <a:solidFill>
            <a:srgbClr val="FFFFFF">
              <a:alpha val="12000"/>
            </a:srgbClr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97280"/>
            <a:ext cx="8010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桥通过【讲师认证下城市】这个抓手，带着真实资源走进深圳，联动深圳TOP经纪人和管理者共建4x7能力标准，在共建过程中同步产出TGC内容，以深圳为范例跑通全流程，再复制到其他城市——能力图谱越来越丰富，讲师池越来越大，经纪人服务能力持续提升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正向飞轮：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3108960"/>
            <a:ext cx="1828800" cy="74980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0" y="310896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能力图谱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持续丰富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3108960"/>
            <a:ext cx="1828800" cy="74980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310896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训练更精准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服务者成长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4206240"/>
            <a:ext cx="1828800" cy="749808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420624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经纪人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服务能力提升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94560" y="4206240"/>
            <a:ext cx="1828800" cy="749808"/>
          </a:xfrm>
          <a:prstGeom prst="ellipse">
            <a:avLst/>
          </a:prstGeom>
          <a:solidFill>
            <a:srgbClr val="E8723A"/>
          </a:solidFill>
          <a:ln w="12700">
            <a:solidFill>
              <a:srgbClr val="E872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94560" y="420624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服务体验提升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69080" y="333756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897880" y="374904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69080" y="43434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374904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花桥学堂 · 讲师发展中心  |  2026年6月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4×7 经纪人底层能力训练体系落地方案</dc:title>
  <dc:subject>PptxGenJS Presentation</dc:subject>
  <dc:creator>花桥学堂·讲师发展中心</dc:creator>
  <cp:lastModifiedBy>花桥学堂·讲师发展中心</cp:lastModifiedBy>
  <cp:revision>1</cp:revision>
  <dcterms:created xsi:type="dcterms:W3CDTF">2026-06-02T04:41:18Z</dcterms:created>
  <dcterms:modified xsi:type="dcterms:W3CDTF">2026-06-02T04:41:18Z</dcterms:modified>
</cp:coreProperties>
</file>